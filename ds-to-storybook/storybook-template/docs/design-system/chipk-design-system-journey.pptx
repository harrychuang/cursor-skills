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041e945dc54eb0" /><Relationship Type="http://schemas.openxmlformats.org/officeDocument/2006/relationships/extended-properties" Target="/docProps/app.xml" Id="R1327b69c587d4f3b" /><Relationship Type="http://schemas.openxmlformats.org/officeDocument/2006/relationships/officeDocument" Target="/ppt/presentation.xml" Id="Ra5d9d2be832b4d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499a9917824a0b"/>
  </p:sldMasterIdLst>
  <p:notesMasterIdLst>
    <p:notesMasterId xmlns:r="http://schemas.openxmlformats.org/officeDocument/2006/relationships" r:id="R92a1ee0692494efd"/>
  </p:notesMasterIdLst>
  <p:sldIdLst>
    <p:sldId xmlns:r="http://schemas.openxmlformats.org/officeDocument/2006/relationships" id="256" r:id="Rcf74783296ff4d6d"/>
    <p:sldId xmlns:r="http://schemas.openxmlformats.org/officeDocument/2006/relationships" id="257" r:id="R73f12f01acd14977"/>
    <p:sldId xmlns:r="http://schemas.openxmlformats.org/officeDocument/2006/relationships" id="258" r:id="Rf6109ffaaaed4342"/>
    <p:sldId xmlns:r="http://schemas.openxmlformats.org/officeDocument/2006/relationships" id="259" r:id="R76f559e314b540f0"/>
    <p:sldId xmlns:r="http://schemas.openxmlformats.org/officeDocument/2006/relationships" id="260" r:id="R5b225ab64d47466c"/>
    <p:sldId xmlns:r="http://schemas.openxmlformats.org/officeDocument/2006/relationships" id="261" r:id="R3cb2b5dcaf794ded"/>
    <p:sldId xmlns:r="http://schemas.openxmlformats.org/officeDocument/2006/relationships" id="262" r:id="R2e290ecea29c4fe4"/>
    <p:sldId xmlns:r="http://schemas.openxmlformats.org/officeDocument/2006/relationships" id="263" r:id="R1f8e3fb8f73d4002"/>
    <p:sldId xmlns:r="http://schemas.openxmlformats.org/officeDocument/2006/relationships" id="264" r:id="R15f632a9f40e48a9"/>
    <p:sldId xmlns:r="http://schemas.openxmlformats.org/officeDocument/2006/relationships" id="265" r:id="R28ba21d70ca04fa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499a9917824a0b" /><Relationship Type="http://schemas.openxmlformats.org/officeDocument/2006/relationships/theme" Target="/ppt/theme/theme1.xml" Id="R0190cba63faf42f6" /><Relationship Type="http://schemas.openxmlformats.org/officeDocument/2006/relationships/notesMaster" Target="/ppt/notesMasters/notesMaster1.xml" Id="R92a1ee0692494efd" /><Relationship Type="http://schemas.openxmlformats.org/officeDocument/2006/relationships/presProps" Target="/ppt/presProps.xml" Id="Rb84c7a4b0fd64f2b" /><Relationship Type="http://schemas.openxmlformats.org/officeDocument/2006/relationships/viewProps" Target="/ppt/viewProps.xml" Id="R33c709b23ebc49ed" /><Relationship Type="http://schemas.openxmlformats.org/officeDocument/2006/relationships/tableStyles" Target="/ppt/tableStyles.xml" Id="Reffb90093fd64536" /><Relationship Type="http://schemas.openxmlformats.org/officeDocument/2006/relationships/slide" Target="/ppt/slides/slide1.xml" Id="Rcf74783296ff4d6d" /><Relationship Type="http://schemas.openxmlformats.org/officeDocument/2006/relationships/slide" Target="/ppt/slides/slide2.xml" Id="R73f12f01acd14977" /><Relationship Type="http://schemas.openxmlformats.org/officeDocument/2006/relationships/slide" Target="/ppt/slides/slide3.xml" Id="Rf6109ffaaaed4342" /><Relationship Type="http://schemas.openxmlformats.org/officeDocument/2006/relationships/slide" Target="/ppt/slides/slide4.xml" Id="R76f559e314b540f0" /><Relationship Type="http://schemas.openxmlformats.org/officeDocument/2006/relationships/slide" Target="/ppt/slides/slide5.xml" Id="R5b225ab64d47466c" /><Relationship Type="http://schemas.openxmlformats.org/officeDocument/2006/relationships/slide" Target="/ppt/slides/slide6.xml" Id="R3cb2b5dcaf794ded" /><Relationship Type="http://schemas.openxmlformats.org/officeDocument/2006/relationships/slide" Target="/ppt/slides/slide7.xml" Id="R2e290ecea29c4fe4" /><Relationship Type="http://schemas.openxmlformats.org/officeDocument/2006/relationships/slide" Target="/ppt/slides/slide8.xml" Id="R1f8e3fb8f73d4002" /><Relationship Type="http://schemas.openxmlformats.org/officeDocument/2006/relationships/slide" Target="/ppt/slides/slide9.xml" Id="R15f632a9f40e48a9" /><Relationship Type="http://schemas.openxmlformats.org/officeDocument/2006/relationships/slide" Target="/ppt/slides/slide10.xml" Id="R28ba21d70ca04f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337fcd6b5da4c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f4961576ab4186" /><Relationship Type="http://schemas.openxmlformats.org/officeDocument/2006/relationships/notesMaster" Target="/ppt/notesMasters/notesMaster1.xml" Id="Re3d4ef7f17a540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1eaed1399e41d2" /><Relationship Type="http://schemas.openxmlformats.org/officeDocument/2006/relationships/notesMaster" Target="/ppt/notesMasters/notesMaster1.xml" Id="R1accd8faffd047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10d839ed04445e" /><Relationship Type="http://schemas.openxmlformats.org/officeDocument/2006/relationships/notesMaster" Target="/ppt/notesMasters/notesMaster1.xml" Id="R0eda5581864b40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7d9c5144904f40" /><Relationship Type="http://schemas.openxmlformats.org/officeDocument/2006/relationships/notesMaster" Target="/ppt/notesMasters/notesMaster1.xml" Id="Re15037d6a13c42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df2e04acf54ad9" /><Relationship Type="http://schemas.openxmlformats.org/officeDocument/2006/relationships/notesMaster" Target="/ppt/notesMasters/notesMaster1.xml" Id="R47d378ed0e9049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ef86ed9fe04b23" /><Relationship Type="http://schemas.openxmlformats.org/officeDocument/2006/relationships/notesMaster" Target="/ppt/notesMasters/notesMaster1.xml" Id="R1cea1ccf042f43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57185e8706485c" /><Relationship Type="http://schemas.openxmlformats.org/officeDocument/2006/relationships/notesMaster" Target="/ppt/notesMasters/notesMaster1.xml" Id="R0d05313c8f2c40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83cdf95daa4f04" /><Relationship Type="http://schemas.openxmlformats.org/officeDocument/2006/relationships/notesMaster" Target="/ppt/notesMasters/notesMaster1.xml" Id="R35fabacbaade4a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205c70884c49ed" /><Relationship Type="http://schemas.openxmlformats.org/officeDocument/2006/relationships/notesMaster" Target="/ppt/notesMasters/notesMaster1.xml" Id="R95b6890f575745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b64b06ba8f42e5" /><Relationship Type="http://schemas.openxmlformats.org/officeDocument/2006/relationships/notesMaster" Target="/ppt/notesMasters/notesMaster1.xml" Id="R73e42de99c5143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7d1f2c11cc4d2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cbe80a51420446a" /><Relationship Type="http://schemas.openxmlformats.org/officeDocument/2006/relationships/slideLayout" Target="/ppt/slideLayouts/slideLayout2.xml" Id="R1b1329cc6e8e48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1329cc6e8e48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2cc17af0884d17" /><Relationship Type="http://schemas.openxmlformats.org/officeDocument/2006/relationships/notesSlide" Target="/ppt/notesSlides/notesSlide1.xml" Id="R54c3b42a1f4a49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53467298664602" /><Relationship Type="http://schemas.openxmlformats.org/officeDocument/2006/relationships/notesSlide" Target="/ppt/notesSlides/notesSlide2.xml" Id="Rfe95414d9a4d46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a2268e36b347b4" /><Relationship Type="http://schemas.openxmlformats.org/officeDocument/2006/relationships/notesSlide" Target="/ppt/notesSlides/notesSlide3.xml" Id="Rb0992441d73f48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a5de176455438a" /><Relationship Type="http://schemas.openxmlformats.org/officeDocument/2006/relationships/notesSlide" Target="/ppt/notesSlides/notesSlide4.xml" Id="Raabf5c4a124843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ffd83840ad4c6f" /><Relationship Type="http://schemas.openxmlformats.org/officeDocument/2006/relationships/notesSlide" Target="/ppt/notesSlides/notesSlide5.xml" Id="R88111f4b4d9a4f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faf8fa739f448c" /><Relationship Type="http://schemas.openxmlformats.org/officeDocument/2006/relationships/notesSlide" Target="/ppt/notesSlides/notesSlide6.xml" Id="Rc879a52974d645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a95802448044ad" /><Relationship Type="http://schemas.openxmlformats.org/officeDocument/2006/relationships/notesSlide" Target="/ppt/notesSlides/notesSlide7.xml" Id="Rca84c98b43e84f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84b844c8c842a3" /><Relationship Type="http://schemas.openxmlformats.org/officeDocument/2006/relationships/notesSlide" Target="/ppt/notesSlides/notesSlide8.xml" Id="R59f460ff797c46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83473df78f4be4" /><Relationship Type="http://schemas.openxmlformats.org/officeDocument/2006/relationships/notesSlide" Target="/ppt/notesSlides/notesSlide9.xml" Id="R081c9ca7711c47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f320052c9e4f0d" /><Relationship Type="http://schemas.openxmlformats.org/officeDocument/2006/relationships/notesSlide" Target="/ppt/notesSlides/notesSlide10.xml" Id="R029824b27f4c4e2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BFBE92-CDB8-43A2-8426-F617665D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C83A29-82BD-4288-BB7C-AB2403FF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9F9093-9459-4477-A471-42244080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8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7B902F61-33B5-44BB-A3B4-0164E175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800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F7800"/>
                </a:solidFill>
                <a:latin typeface="PingFang TC"/>
                <a:ea typeface="PingFang TC"/>
                <a:cs typeface="PingFang TC"/>
              </a:rPr>
              <a:t>CHIPK DESIGN SYSTEM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C0B864-C949-404A-A5D4-5F4E7799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619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從 Figma 證據到 Storybook 驗證的設計系統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93B77-7927-47BD-872C-ACFA59DA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552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DEDED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EDEDED"/>
                </a:solidFill>
                <a:latin typeface="PingFang TC"/>
                <a:ea typeface="PingFang TC"/>
                <a:cs typeface="PingFang TC"/>
              </a:rPr>
              <a:t>截至 2026-06-02，專案已進入 token-governed component delivery；下一步的主線是治理決策，而不是單純增加抽取量。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666ED8-9D3A-43F5-9852-7881BEDD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A6B765-93E8-492C-B321-9A953487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38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Current branch: feature/figma-code-generate</a:t>
            </a:r>
          </a:p>
          <a:p xmlns:a="http://schemas.openxmlformats.org/drawingml/2006/main">
            <a:pPr algn="l">
              <a:defRPr sz="112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Local status: clean worktree; Storybook dev server on :6006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B160FC-54B5-4288-810A-20DA9704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704850"/>
            <a:ext cx="180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1964FE-BF4E-4445-809F-D71345B3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7048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A9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3A5687-890E-4F60-BBEA-1624B48A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83820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59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C1C97E-D4CA-4CF1-B29F-9EFD6ACB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18110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A9EA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36A9EA"/>
                </a:solidFill>
                <a:latin typeface="PingFang TC"/>
                <a:ea typeface="PingFang TC"/>
                <a:cs typeface="PingFang TC"/>
              </a:rPr>
              <a:t>inventory rows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4B5D2D-FAF1-4C2C-A990-0AD33A96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40970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component inventory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3E4FA5-8C12-46B6-923D-20E52B00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704850"/>
            <a:ext cx="180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9AED13-C552-437B-96F3-ECA887BA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7048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A9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1D90CC-370A-4364-AE34-04EC9B94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83820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56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37A48E-DBBA-4D45-83F6-BC4F728D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18110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A9EA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36A9EA"/>
                </a:solidFill>
                <a:latin typeface="PingFang TC"/>
                <a:ea typeface="PingFang TC"/>
                <a:cs typeface="PingFang TC"/>
              </a:rPr>
              <a:t>component specs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9719D8-D02E-4AC5-B0DD-826BA075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40970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design-system docs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EA8EFF-2066-4C11-AFBA-1D26F0DA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43100"/>
            <a:ext cx="180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6A3613-453A-47E0-9564-6A286ED3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431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8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B426B0-ADAF-4687-B83B-EB8A1BC9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7645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39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A90FCA-23E0-4526-9CCC-4D43ED8C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1935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800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F7800"/>
                </a:solidFill>
                <a:latin typeface="PingFang TC"/>
                <a:ea typeface="PingFang TC"/>
                <a:cs typeface="PingFang TC"/>
              </a:rPr>
              <a:t>React components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83A6DB-B217-45C3-83CC-03E9E9DD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64795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with stories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D28FC3-359E-43A0-A236-341D515B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43100"/>
            <a:ext cx="180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182F67-6A6D-49A2-B211-B3D7BFB6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431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E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9C1D15-DE68-4C30-8EE4-F759FE52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7645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2260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C520DC-72B8-4004-B2A5-33985171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1935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EEB1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FEEB1"/>
                </a:solidFill>
                <a:latin typeface="PingFang TC"/>
                <a:ea typeface="PingFang TC"/>
                <a:cs typeface="PingFang TC"/>
              </a:rPr>
              <a:t>token rows rendered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B413B5-9D00-4778-BD16-FEA9DD09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4795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HTML docs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F5AF9E-E2D5-4DA4-9FD9-33FFF84E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81350"/>
            <a:ext cx="180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970668-6E74-4514-BC71-50D96A83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813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99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C50328-41D7-4437-903B-76691165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1470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277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709EAE-ADA9-4BD6-B72C-4E4170FF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65760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ref tokens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FDC40B-BE71-4393-9CED-14C79A03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8620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raw values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E94541-AA49-4755-86C2-2F3A538C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81350"/>
            <a:ext cx="180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A8101B-6DAC-434C-B652-A6687094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813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99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7BEE0B-CF82-475B-AD39-2DEA85EC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1470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650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C96779-A8AC-47E3-A244-E00EF92B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5760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sys tokens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09235B-D42C-4375-92F6-64AA44BF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8620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semantic roles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62DB79-FAEC-4D2D-8AB4-9C7DF463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19600"/>
            <a:ext cx="180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F87136-1A1D-4B63-8CF8-EE6BCB64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196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99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D8B727-6C26-43C4-AAA5-24753BF1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55295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1333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69883D6-61FA-488D-B639-3E4FEA8A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89585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comp tokens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CDA230-F51F-48D9-8E57-77117860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12445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slot contracts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BF55F12-5CE2-4450-B27C-4744E4CA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19600"/>
            <a:ext cx="180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0ECBEF-4C46-471C-B806-9C338FF1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196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B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993A387-DF91-475D-B86D-E8DE4FC6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55295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PASS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639D6DB-2E06-498D-AF34-AF41BBF2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89585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B54A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39B54A"/>
                </a:solidFill>
                <a:latin typeface="PingFang TC"/>
                <a:ea typeface="PingFang TC"/>
                <a:cs typeface="PingFang TC"/>
              </a:rPr>
              <a:t>check + build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7D67C7-51EF-4B55-A861-1B45281B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12445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local verification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21EF339-FCE7-4696-B74C-0BD0022B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5757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757575"/>
                </a:solidFill>
                <a:latin typeface="PingFang TC"/>
                <a:ea typeface="PingFang TC"/>
                <a:cs typeface="PingFang TC"/>
              </a:rPr>
              <a:t>Source: SESSION_STATE, package scripts, local npm check/build results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9437E14-FBF5-46A2-A26A-3BFBD68E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103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3160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B6A44C-6087-45DB-8E7D-C269D65B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8D157-0B9C-4EA8-A336-40F7F038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8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0A56B67B-F2AD-497B-AFFB-847916CB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800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FF7800"/>
                </a:solidFill>
                <a:latin typeface="PingFang TC"/>
                <a:ea typeface="PingFang TC"/>
                <a:cs typeface="PingFang TC"/>
              </a:rPr>
              <a:t>OPERATING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75CC8-24F6-46A8-BC97-B9F9C9C4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把 Figma 證據、決策、實作與驗證串成一條線。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130EA0-E75F-4ECE-9F95-DCA76E05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B7B38A-2A04-4A05-942E-F3F70DAB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5757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757575"/>
                </a:solidFill>
                <a:latin typeface="PingFang TC"/>
                <a:ea typeface="PingFang TC"/>
                <a:cs typeface="PingFang TC"/>
              </a:rPr>
              <a:t>Source: local repo design-system docs, git history, and command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6F9B2B-6AA9-477E-AAC2-B038EB2D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103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65451-002B-4730-BADF-4867F38E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7716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9A5BF1-3D65-43EE-A1F1-91AA29F2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771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E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D54648-6888-42C8-837C-E524E3FD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75152B-4ADC-47DF-ACC8-497019AF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1428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Figma 節點、截圖</a:t>
            </a:r>
          </a:p>
          <a:p xmlns:a="http://schemas.openxmlformats.org/drawingml/2006/main">
            <a:pPr algn="l">
              <a:defRPr sz="97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metadata、variables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152E70-9524-47BE-8F65-0B78F64F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8" y="2452688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EB1"/>
          </a:solidFill>
          <a:ln xmlns:a="http://schemas.openxmlformats.org/drawingml/2006/main" w="0">
            <a:solidFill>
              <a:srgbClr val="FFEEB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A41A0A-8BD4-4D8F-8667-7C1E7701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24125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A3953F-BF9B-4B87-85F5-F7272F18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3050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5757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757575"/>
                </a:solidFill>
                <a:latin typeface="PingFang TC"/>
                <a:ea typeface="PingFang TC"/>
                <a:cs typeface="PingFang TC"/>
              </a:rPr>
              <a:t>handoff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887479-0DE5-499C-AA98-93217867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17716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5DF37F-D293-4CD4-AFDF-A6745FCD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1771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A9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65E8C1-7323-4CEE-913F-79B8FA74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289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Docs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8E5574-88A6-4783-AA7F-028E4A9B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52800"/>
            <a:ext cx="1428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principles、inventory</a:t>
            </a:r>
          </a:p>
          <a:p xmlns:a="http://schemas.openxmlformats.org/drawingml/2006/main">
            <a:pPr algn="l">
              <a:defRPr sz="97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component specs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FBFB64-6EF3-4349-BBF0-CAAA26E3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888" y="2452688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A9EA"/>
          </a:solidFill>
          <a:ln xmlns:a="http://schemas.openxmlformats.org/drawingml/2006/main" w="0">
            <a:solidFill>
              <a:srgbClr val="36A9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90250B-4C63-427C-9603-F39BC076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24125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BA49CE-A002-4412-AA7E-6E4006EF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050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5757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757575"/>
                </a:solidFill>
                <a:latin typeface="PingFang TC"/>
                <a:ea typeface="PingFang TC"/>
                <a:cs typeface="PingFang TC"/>
              </a:rPr>
              <a:t>handoff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1C6211-660D-4133-9592-2294CC86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57500"/>
            <a:ext cx="17716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A6827A-7CE8-4223-9D65-F169F8CC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57500"/>
            <a:ext cx="1771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8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A7D5E6-49A8-4A0B-B455-8F57ACC4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289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Tokens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8828F9-D5B6-489C-B841-977785F7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52800"/>
            <a:ext cx="1428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ref -&gt; sys -&gt; comp</a:t>
            </a:r>
          </a:p>
          <a:p xmlns:a="http://schemas.openxmlformats.org/drawingml/2006/main">
            <a:pPr algn="l">
              <a:defRPr sz="97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新值先進 token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87495F-DC6F-4A59-8597-7D7D4573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588" y="2452688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800"/>
          </a:solidFill>
          <a:ln xmlns:a="http://schemas.openxmlformats.org/drawingml/2006/main" w="0">
            <a:solidFill>
              <a:srgbClr val="FF78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B660E4-4A27-4A99-9EDD-3AA3A62F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24125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71B1C3-552D-4D8D-8343-95D18823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050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5757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757575"/>
                </a:solidFill>
                <a:latin typeface="PingFang TC"/>
                <a:ea typeface="PingFang TC"/>
                <a:cs typeface="PingFang TC"/>
              </a:rPr>
              <a:t>handoff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E381ED-85E3-4663-B103-69F5BEBD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57500"/>
            <a:ext cx="17716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03D723-9011-4829-A0E7-2844C2A3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57500"/>
            <a:ext cx="1771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B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863C53-7669-4226-AF45-D2ABCC89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289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React/CSS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69166A-DBAF-4D9B-B01B-552C71E6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52800"/>
            <a:ext cx="1428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slot props、ARIA</a:t>
            </a:r>
          </a:p>
          <a:p xmlns:a="http://schemas.openxmlformats.org/drawingml/2006/main">
            <a:pPr algn="l">
              <a:defRPr sz="97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component tokens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ADA525-9914-4339-813F-EECCBAD5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5288" y="2452688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B54A"/>
          </a:solidFill>
          <a:ln xmlns:a="http://schemas.openxmlformats.org/drawingml/2006/main" w="0">
            <a:solidFill>
              <a:srgbClr val="39B5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80AA32-D607-4150-AA4E-594D903D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24125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94E2F5-B528-4380-8AFE-375F165D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050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5757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757575"/>
                </a:solidFill>
                <a:latin typeface="PingFang TC"/>
                <a:ea typeface="PingFang TC"/>
                <a:cs typeface="PingFang TC"/>
              </a:rPr>
              <a:t>handoff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6DF0ED-2081-4DDF-B323-9FDA5635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57500"/>
            <a:ext cx="17716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74482F-86E0-4505-BD25-977B57A5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57500"/>
            <a:ext cx="1771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2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E7C477-CD2F-4A79-B13C-59CDCB50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289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Storybook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F92CA2-FAFC-4236-A409-5E52C5CD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352800"/>
            <a:ext cx="1428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foundations、states</a:t>
            </a:r>
          </a:p>
          <a:p xmlns:a="http://schemas.openxmlformats.org/drawingml/2006/main">
            <a:pPr algn="l">
              <a:defRPr sz="97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build/export review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F73D5F-CB05-43AD-8B83-CBEAACA6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988" y="2452688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272D"/>
          </a:solidFill>
          <a:ln xmlns:a="http://schemas.openxmlformats.org/drawingml/2006/main" w="0">
            <a:solidFill>
              <a:srgbClr val="EA272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D80643-8952-4447-AE89-6CD54629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43500"/>
            <a:ext cx="914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3F76AB8-A9F4-497F-94AE-DDCEB200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578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核心工作規則：Use tokens first. Future Figma values must enter the correct token layer before component guidance or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146948390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90F995-E1AA-4642-9E7B-9345B84A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AB6E4-E11D-4F23-B1B8-F5894793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8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9AA48B4D-5E00-4402-BBC0-3B8B7B5A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800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FF7800"/>
                </a:solidFill>
                <a:latin typeface="PingFang TC"/>
                <a:ea typeface="PingFang TC"/>
                <a:cs typeface="PingFang TC"/>
              </a:rPr>
              <a:t>DELIVERY HISTORY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C6711-5836-43EC-A4D6-ABF7F167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Git 歷史顯示這不是一次性產物，而是分階段收斂出的交付系統。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D0508-6FDF-44EC-BE1B-522A37FD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B7C81B-CA97-49FE-9BB6-C1882B4C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5757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757575"/>
                </a:solidFill>
                <a:latin typeface="PingFang TC"/>
                <a:ea typeface="PingFang TC"/>
                <a:cs typeface="PingFang TC"/>
              </a:rPr>
              <a:t>Source: git log --reverse --oneline --all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22AF37-3A30-4FCA-86DF-574D4E23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103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32B2B2-BF35-4170-BEE2-61028FEE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05200"/>
            <a:ext cx="988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D179B0-841C-407B-8250-7CD3F89D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419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EB1"/>
          </a:solidFill>
          <a:ln xmlns:a="http://schemas.openxmlformats.org/drawingml/2006/main" w="0">
            <a:solidFill>
              <a:srgbClr val="FFEEB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5165A1-3A4C-421C-B02C-81812623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19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4C4C9-8BAF-4CE6-A1A7-2D8EFF2F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38350"/>
            <a:ext cx="1619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D3D858-58CB-4C05-A548-0DE61545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EEB1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EEB1"/>
                </a:solidFill>
                <a:latin typeface="PingFang TC"/>
                <a:ea typeface="PingFang TC"/>
                <a:cs typeface="PingFang TC"/>
              </a:rPr>
              <a:t>Foundation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50D902-BB8B-4A27-8837-BC929DC1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63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Create design token foundation</a:t>
            </a:r>
          </a:p>
          <a:p xmlns:a="http://schemas.openxmlformats.org/drawingml/2006/main">
            <a:pPr algn="ctr">
              <a:defRPr sz="863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63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Extract initial Figma design 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E6914C-F4B2-48C4-B6E1-E6E950DF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19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A9EA"/>
          </a:solidFill>
          <a:ln xmlns:a="http://schemas.openxmlformats.org/drawingml/2006/main" w="0">
            <a:solidFill>
              <a:srgbClr val="36A9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5E84E0-6A79-486C-B078-91682922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581400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1EE9A2-01CC-4A8D-AC7B-84F0B9CE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867150"/>
            <a:ext cx="1619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C29679-3687-421D-AFD8-CE31CAB1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03860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6A9EA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36A9EA"/>
                </a:solidFill>
                <a:latin typeface="PingFang TC"/>
                <a:ea typeface="PingFang TC"/>
                <a:cs typeface="PingFang TC"/>
              </a:rPr>
              <a:t>Extraction wave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023F71-5C18-477E-B177-2EF89DA7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36245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63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Portfolio analysis, list/date, event,</a:t>
            </a:r>
          </a:p>
          <a:p xmlns:a="http://schemas.openxmlformats.org/drawingml/2006/main">
            <a:pPr algn="ctr">
              <a:defRPr sz="863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63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preferred stock, health/profit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5EF55A-1492-471E-81B1-13E078BA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419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800"/>
          </a:solidFill>
          <a:ln xmlns:a="http://schemas.openxmlformats.org/drawingml/2006/main" w="0">
            <a:solidFill>
              <a:srgbClr val="FF78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9BF05D-5277-4625-88AF-C6F86603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29000"/>
            <a:ext cx="19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DD7971-3610-4121-BE17-B9BD4345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38350"/>
            <a:ext cx="1619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3DA9EE-5C7E-41C9-BE49-C1D88B5B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0980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780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7800"/>
                </a:solidFill>
                <a:latin typeface="PingFang TC"/>
                <a:ea typeface="PingFang TC"/>
                <a:cs typeface="PingFang TC"/>
              </a:rPr>
              <a:t>Docs system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77B69D-5DA1-4FCD-9F51-4F4580F8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3365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63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Themed HTML documentation shell</a:t>
            </a:r>
          </a:p>
          <a:p xmlns:a="http://schemas.openxmlformats.org/drawingml/2006/main">
            <a:pPr algn="ctr">
              <a:defRPr sz="863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63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Component specs and evidence maps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83E2F2-7773-48EE-A16C-7C1C0335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19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B54A"/>
          </a:solidFill>
          <a:ln xmlns:a="http://schemas.openxmlformats.org/drawingml/2006/main" w="0">
            <a:solidFill>
              <a:srgbClr val="39B5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EE0EC2-2F16-4EB2-8CC4-EDAB04BA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581400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4B82C5-CFAA-475D-A02E-A8049445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867150"/>
            <a:ext cx="1619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413E49-3E77-4501-9BC8-DDC673B9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03860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9B54A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39B54A"/>
                </a:solidFill>
                <a:latin typeface="PingFang TC"/>
                <a:ea typeface="PingFang TC"/>
                <a:cs typeface="PingFang TC"/>
              </a:rPr>
              <a:t>Storybook base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D847A2-3D76-45EF-900A-3261D9D4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6245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63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Storybook workspace, foundations,</a:t>
            </a:r>
          </a:p>
          <a:p xmlns:a="http://schemas.openxmlformats.org/drawingml/2006/main">
            <a:pPr algn="ctr">
              <a:defRPr sz="863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63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token guides, governance overview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21F3DD-CE6E-43C2-AB4E-DDF40704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419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272D"/>
          </a:solidFill>
          <a:ln xmlns:a="http://schemas.openxmlformats.org/drawingml/2006/main" w="0">
            <a:solidFill>
              <a:srgbClr val="EA272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B0A058-D684-459B-BF27-78D11EC7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29000"/>
            <a:ext cx="19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066B69-6143-4A4D-9FC5-175AA2E2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38350"/>
            <a:ext cx="1619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260964-DC0C-478B-B4CF-29485E8C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0980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A272D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EA272D"/>
                </a:solidFill>
                <a:latin typeface="PingFang TC"/>
                <a:ea typeface="PingFang TC"/>
                <a:cs typeface="PingFang TC"/>
              </a:rPr>
              <a:t>Component delivery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72DC67-1B56-49DB-9B3D-71D9D8EE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3365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63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Realtime rows, main force, events,</a:t>
            </a:r>
          </a:p>
          <a:p xmlns:a="http://schemas.openxmlformats.org/drawingml/2006/main">
            <a:pPr algn="ctr">
              <a:defRPr sz="863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63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broker import, bottom sheet, portfolio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A62229-1B8B-48BF-B00C-F4CEC964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19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800"/>
          </a:solidFill>
          <a:ln xmlns:a="http://schemas.openxmlformats.org/drawingml/2006/main" w="0">
            <a:solidFill>
              <a:srgbClr val="FF78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7FC30A-FE1C-466D-AC50-BECF81BD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581400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38143C-0707-4CCB-93A3-5D94A85E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867150"/>
            <a:ext cx="1619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D593A4-22F0-4F2F-BEA5-858BE1BF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403860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780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7800"/>
                </a:solidFill>
                <a:latin typeface="PingFang TC"/>
                <a:ea typeface="PingFang TC"/>
                <a:cs typeface="PingFang TC"/>
              </a:rPr>
              <a:t>Figma export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3A769A-5017-439F-A8C2-D9AC6E98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436245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63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Figma export tooling and shared addon</a:t>
            </a:r>
          </a:p>
          <a:p xmlns:a="http://schemas.openxmlformats.org/drawingml/2006/main">
            <a:pPr algn="ctr">
              <a:defRPr sz="863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63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latest branch: figma-code-generate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F2E6BD-D42E-4366-95B7-C929D302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9070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HEAD: portfolio fit + preferred stock components</a:t>
            </a:r>
          </a:p>
        </p:txBody>
      </p:sp>
    </p:spTree>
    <p:extLst>
      <p:ext uri="{BB962C8B-B14F-4D97-AF65-F5344CB8AC3E}">
        <p14:creationId xmlns:p14="http://schemas.microsoft.com/office/powerpoint/2010/main" val="186385444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B363F7-64E3-487A-B36E-CF355AB0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F69BB2-2F3F-4B6A-B0B8-2198DA47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8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16DCB5B9-638A-41C8-9436-0C970703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800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FF7800"/>
                </a:solidFill>
                <a:latin typeface="PingFang TC"/>
                <a:ea typeface="PingFang TC"/>
                <a:cs typeface="PingFang TC"/>
              </a:rPr>
              <a:t>TOKEN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581B7-C8DE-4432-9458-D2545DBA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Token inheritance 是目前品質邊界：raw value 不直接跳進元件。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CD8927-B50E-4D13-9A23-22F49C87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AE034-CB08-40AD-B8CD-6EC96986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5757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757575"/>
                </a:solidFill>
                <a:latin typeface="PingFang TC"/>
                <a:ea typeface="PingFang TC"/>
                <a:cs typeface="PingFang TC"/>
              </a:rPr>
              <a:t>Source: TOKEN_ARCHITECTURE, SESSION_STATE, npm run check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E0030D-0D67-44A0-B185-7F36021F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103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4F6EED-D26C-49F7-8B51-E5FCF8D5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52700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19050">
            <a:solidFill>
              <a:srgbClr val="99999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2DE1F2-0C20-4EB7-A64F-40485EEA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4320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REF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F8DB01-6429-4A0B-A6F6-E093804D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432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raw values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E130D4-6A2C-4B4C-83AD-BF77C071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861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DEDED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EDEDED"/>
                </a:solidFill>
                <a:latin typeface="PingFang TC"/>
                <a:ea typeface="PingFang TC"/>
                <a:cs typeface="PingFang TC"/>
              </a:rPr>
              <a:t>277 tokens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D9638E-09D7-4266-A14C-B5A9F3D1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909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color / size / radius / typeface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B72924-FEB2-41FA-9BE9-16EDFC7F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3528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204785-6310-466D-ABA8-5971CA7C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163" y="33099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800"/>
          </a:solidFill>
          <a:ln xmlns:a="http://schemas.openxmlformats.org/drawingml/2006/main" w="0">
            <a:solidFill>
              <a:srgbClr val="FF78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A910F1-0CC7-4687-9B13-B1A349E6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52700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19050">
            <a:solidFill>
              <a:srgbClr val="36A9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18A8A6-8610-42DA-8B7F-810190F4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4320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6A9EA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36A9EA"/>
                </a:solidFill>
                <a:latin typeface="PingFang TC"/>
                <a:ea typeface="PingFang TC"/>
                <a:cs typeface="PingFang TC"/>
              </a:rPr>
              <a:t>SYS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C85875-CB72-4FD3-BF26-CB54B7CA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432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semantic roles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C1E7CA-6E01-4091-92D5-825F3E4C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861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DEDED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EDEDED"/>
                </a:solidFill>
                <a:latin typeface="PingFang TC"/>
                <a:ea typeface="PingFang TC"/>
                <a:cs typeface="PingFang TC"/>
              </a:rPr>
              <a:t>650 tokens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D80DD8-E87A-4745-AC4B-54ED9A8A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909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product-wide meaning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839082-5D25-48A5-83AC-25C8E3F2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528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C6C4AE-501F-4ECE-AB2F-47B9BD8C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1913" y="33099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800"/>
          </a:solidFill>
          <a:ln xmlns:a="http://schemas.openxmlformats.org/drawingml/2006/main" w="0">
            <a:solidFill>
              <a:srgbClr val="FF78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AB9DD4-882F-4112-ABD3-D2E5AD68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52700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19050">
            <a:solidFill>
              <a:srgbClr val="FF78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3EEE77-FA4F-45B0-A178-6996D3C7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4320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7800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FF7800"/>
                </a:solidFill>
                <a:latin typeface="PingFang TC"/>
                <a:ea typeface="PingFang TC"/>
                <a:cs typeface="PingFang TC"/>
              </a:rPr>
              <a:t>COMP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B59F63-377B-4F63-870B-616D7F1C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432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component slots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E7695A-1BD0-4425-B66A-360B6A88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861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DEDED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EDEDED"/>
                </a:solidFill>
                <a:latin typeface="PingFang TC"/>
                <a:ea typeface="PingFang TC"/>
                <a:cs typeface="PingFang TC"/>
              </a:rPr>
              <a:t>1333 tokens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2D241F-82FC-4637-9404-04EE2FF4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909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actual UI contracts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920CA9-E799-48BB-B4B6-E9A81212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24400"/>
            <a:ext cx="2571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9481AC-1916-4973-859B-E2E552E2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244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B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6A9242-7CD0-463F-94E0-6E4FFBC7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857750"/>
            <a:ext cx="2228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npm run check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F80148-411F-437B-A3D1-F4C1941D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00650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B54A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39B54A"/>
                </a:solidFill>
                <a:latin typeface="PingFang TC"/>
                <a:ea typeface="PingFang TC"/>
                <a:cs typeface="PingFang TC"/>
              </a:rPr>
              <a:t>current local gate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F9E446-2605-487F-A010-38D9B7E0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429250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token inheritance + TypeScript passed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92ABFC-0DA8-4B6D-9674-27FED9CA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724400"/>
            <a:ext cx="2571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13939D-C144-4AA0-A70E-B7BC4DC9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7244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E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7FD2F8-AF82-4797-89C5-8C4383B0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857750"/>
            <a:ext cx="2228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strict audit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7F1923-FD8D-449E-8E55-FD4B60DB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00650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EEB1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FEEB1"/>
                </a:solidFill>
                <a:latin typeface="PingFang TC"/>
                <a:ea typeface="PingFang TC"/>
                <a:cs typeface="PingFang TC"/>
              </a:rPr>
              <a:t>decision gate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D17ED8-09A4-434F-A557-3CD7A639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429250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near-token backlog still open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4CD578-4C57-41FC-B754-8D862589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24400"/>
            <a:ext cx="2571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33B540-829A-47DD-9CE1-E0023DF5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244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8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4AB500-817C-4E91-80CD-37B1F2E2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857750"/>
            <a:ext cx="2228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no skip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CAA694-D85E-4FE4-9D2E-2B8F745F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00650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800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F7800"/>
                </a:solidFill>
                <a:latin typeface="PingFang TC"/>
                <a:ea typeface="PingFang TC"/>
                <a:cs typeface="PingFang TC"/>
              </a:rPr>
              <a:t>design contract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37FC7F-3C4B-4E5E-B589-94097EC8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429250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component tokens must map through sys</a:t>
            </a:r>
          </a:p>
        </p:txBody>
      </p:sp>
    </p:spTree>
    <p:extLst>
      <p:ext uri="{BB962C8B-B14F-4D97-AF65-F5344CB8AC3E}">
        <p14:creationId xmlns:p14="http://schemas.microsoft.com/office/powerpoint/2010/main" val="5960026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41070C-EF13-4FD4-961F-FC863AAE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7E6B32-E623-4B0A-A347-FD488459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8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BE7C851F-6485-403B-A8BB-C5A48641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800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FF7800"/>
                </a:solidFill>
                <a:latin typeface="PingFang TC"/>
                <a:ea typeface="PingFang TC"/>
                <a:cs typeface="PingFang TC"/>
              </a:rPr>
              <a:t>COVERAGE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7D434-D323-496F-959E-0B4C8455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Component coverage 已經橫跨主要產品域，治理負債開始比新增元件更關鍵。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9DB33-8510-4DF2-A46A-49807FD3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C78A0-B098-4D3C-8F88-20E04290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5757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757575"/>
                </a:solidFill>
                <a:latin typeface="PingFang TC"/>
                <a:ea typeface="PingFang TC"/>
                <a:cs typeface="PingFang TC"/>
              </a:rPr>
              <a:t>Source: COMPONENT_INVENTORY, local file counts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ED1B0A-C16C-44C8-9EB0-9957CB23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103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1EB44D-8101-4B9C-B426-CBA558DE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7ACFAD-554C-41A8-8CAD-8C8AA7B0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A9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E8C3C9-0133-4B9D-B35B-9D01A56E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717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Market shell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054003-0E79-4931-8D6F-F20E7B5F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38400"/>
            <a:ext cx="3028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63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Top App Bar, Bottom Navigation, Market Tabs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CD61BB-05E5-4567-BA21-3B62F8A0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26695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6A9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C6F8BF-0837-4307-AF2A-BD5BDFAA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050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6A9EA"/>
                </a:solidFill>
                <a:latin typeface="PingFang TC"/>
                <a:ea typeface="PingFang TC"/>
                <a:cs typeface="PingFang TC"/>
              </a:defRPr>
            </a:pPr>
            <a:r>
              <a:rPr sz="788" b="1">
                <a:solidFill>
                  <a:srgbClr val="36A9EA"/>
                </a:solidFill>
                <a:latin typeface="PingFang TC"/>
                <a:ea typeface="PingFang TC"/>
                <a:cs typeface="PingFang TC"/>
              </a:rPr>
              <a:t>extracted + implemented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9EFA6C-74FF-4C60-8206-B21A9510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383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4B4A61-BB7D-4B2D-A67D-DA410C24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383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B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039AA0-E358-4A81-8E3F-C429C1FF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717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Realtime lists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F0ABA9-B50E-4C63-8A88-E779EB66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38400"/>
            <a:ext cx="3028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63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Realtime Quote Row, Event Table Row, Main Force Row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04DB86-37AB-48EC-9A79-0EE86D94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6695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9B5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4C2029-1F37-44A2-9142-082C00D0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050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9B54A"/>
                </a:solidFill>
                <a:latin typeface="PingFang TC"/>
                <a:ea typeface="PingFang TC"/>
                <a:cs typeface="PingFang TC"/>
              </a:defRPr>
            </a:pPr>
            <a:r>
              <a:rPr sz="788" b="1">
                <a:solidFill>
                  <a:srgbClr val="39B54A"/>
                </a:solidFill>
                <a:latin typeface="PingFang TC"/>
                <a:ea typeface="PingFang TC"/>
                <a:cs typeface="PingFang TC"/>
              </a:rPr>
              <a:t>P0 rows implemented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8B554D-31E4-4373-866D-4F4D5307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13BB9F-B65F-46E5-A970-AD085EEA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8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E939A8-C270-43C3-B0BF-B2B9C3ED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861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Portfolio fit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9EBE2A-1F10-4A7D-9BA6-B4964903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52800"/>
            <a:ext cx="3028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63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Fit list, assessment, attributes, detail sheet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AFB144-4703-4938-B4CE-D9BDED8D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18135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78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D7937C-861E-484C-A00C-163FD449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194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7800"/>
                </a:solidFill>
                <a:latin typeface="PingFang TC"/>
                <a:ea typeface="PingFang TC"/>
                <a:cs typeface="PingFang TC"/>
              </a:defRPr>
            </a:pPr>
            <a:r>
              <a:rPr sz="788" b="1">
                <a:solidFill>
                  <a:srgbClr val="FF7800"/>
                </a:solidFill>
                <a:latin typeface="PingFang TC"/>
                <a:ea typeface="PingFang TC"/>
                <a:cs typeface="PingFang TC"/>
              </a:rPr>
              <a:t>latest component wave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54351B-CA72-4D00-B875-CD15431B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527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654426-7EEF-4489-9761-A91EDFC6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527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8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619497-63C2-4608-9A07-F255E52C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861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Preferred stock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579D45-E987-4968-8B4F-E1FF6891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52800"/>
            <a:ext cx="3028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63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Title, list header, stock row, valuation label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BF3497-8812-4DFF-B6C8-0DDB4F43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8135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78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F0A9CE-7A26-422B-91B6-D4BF15CF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194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7800"/>
                </a:solidFill>
                <a:latin typeface="PingFang TC"/>
                <a:ea typeface="PingFang TC"/>
                <a:cs typeface="PingFang TC"/>
              </a:defRPr>
            </a:pPr>
            <a:r>
              <a:rPr sz="788" b="1">
                <a:solidFill>
                  <a:srgbClr val="FF7800"/>
                </a:solidFill>
                <a:latin typeface="PingFang TC"/>
                <a:ea typeface="PingFang TC"/>
                <a:cs typeface="PingFang TC"/>
              </a:rPr>
              <a:t>latest component wave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73EAB4-0FD4-470E-A9CE-48AF6B69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8122E7-62DD-4583-8E3F-C66C0A0F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A9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7A9A75-A7D5-4A71-B39E-2BF9178D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Bottom sheet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18D70D-17CA-42A4-AF04-E7EC249B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67200"/>
            <a:ext cx="3028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63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Header, Cell, Footer Button, composite sheet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30266E-44F1-4CF4-B0B6-584E6E56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09575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6A9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34DDED-82E5-441C-9517-1FAA68AB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338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6A9EA"/>
                </a:solidFill>
                <a:latin typeface="PingFang TC"/>
                <a:ea typeface="PingFang TC"/>
                <a:cs typeface="PingFang TC"/>
              </a:defRPr>
            </a:pPr>
            <a:r>
              <a:rPr sz="788" b="1">
                <a:solidFill>
                  <a:srgbClr val="36A9EA"/>
                </a:solidFill>
                <a:latin typeface="PingFang TC"/>
                <a:ea typeface="PingFang TC"/>
                <a:cs typeface="PingFang TC"/>
              </a:rPr>
              <a:t>shared pattern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924E7F-3FB3-4819-A4E7-FC56F5CD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671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F61CD4-80D9-47CE-A5D5-DA8965B9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671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B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3E1500-33A2-4727-BE04-8DF609C2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005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Broker import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BFCE76-5033-4FCD-9797-D4878896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67200"/>
            <a:ext cx="3028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63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Broker icon, promo badge, header, row, menu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B8BE931-3032-4E31-909A-17DF58D3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09575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9B54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AF3CF9E-50F8-4CB4-8CC1-7043F899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338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9B54A"/>
                </a:solidFill>
                <a:latin typeface="PingFang TC"/>
                <a:ea typeface="PingFang TC"/>
                <a:cs typeface="PingFang TC"/>
              </a:defRPr>
            </a:pPr>
            <a:r>
              <a:rPr sz="788" b="1">
                <a:solidFill>
                  <a:srgbClr val="39B54A"/>
                </a:solidFill>
                <a:latin typeface="PingFang TC"/>
                <a:ea typeface="PingFang TC"/>
                <a:cs typeface="PingFang TC"/>
              </a:rPr>
              <a:t>integration-ready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DC12B9-0E93-4A0B-9B47-46E7668B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2912C85-5773-4D87-BBB5-8F92A3CA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E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1BDD7D-2AD4-4639-BC22-AB7391FB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149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Events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48F7C11-4CF3-4BD5-AE0F-7937DC3F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81600"/>
            <a:ext cx="3028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63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Date label, event name, filter dropdown/option/sheet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C0DCA4B-8811-4752-8DAD-BF2FA4F1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01015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EEB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C6AB1C1-5FE8-4680-B7CE-73CE42C6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482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EEB1"/>
                </a:solidFill>
                <a:latin typeface="PingFang TC"/>
                <a:ea typeface="PingFang TC"/>
                <a:cs typeface="PingFang TC"/>
              </a:defRPr>
            </a:pPr>
            <a:r>
              <a:rPr sz="788" b="1">
                <a:solidFill>
                  <a:srgbClr val="FFEEB1"/>
                </a:solidFill>
                <a:latin typeface="PingFang TC"/>
                <a:ea typeface="PingFang TC"/>
                <a:cs typeface="PingFang TC"/>
              </a:rPr>
              <a:t>utility suite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DB4407F-78F1-445E-96B5-268CB335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815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D123278-B62A-47F8-8B0F-C4C65B7D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815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27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4D73B5A-D9EA-4384-AEDD-C5F76B2B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149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Controls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4282910-0D17-489E-BF40-25AE9135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181600"/>
            <a:ext cx="3028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63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Switch, Selection Control, New Badge, utility icons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1C1DCF6-EF3D-4D31-B579-BD7F98E8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01015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EA272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26032FA-A1DC-40D5-AF09-93DF5707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0482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EA272D"/>
                </a:solidFill>
                <a:latin typeface="PingFang TC"/>
                <a:ea typeface="PingFang TC"/>
                <a:cs typeface="PingFang TC"/>
              </a:defRPr>
            </a:pPr>
            <a:r>
              <a:rPr sz="788" b="1">
                <a:solidFill>
                  <a:srgbClr val="EA272D"/>
                </a:solidFill>
                <a:latin typeface="PingFang TC"/>
                <a:ea typeface="PingFang TC"/>
                <a:cs typeface="PingFang TC"/>
              </a:rPr>
              <a:t>boundary clarified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A8989AB-0B8A-480D-8BE5-D064FFF7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150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EF56F63-D898-4884-88BC-19B8E8EA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483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DED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EDEDED"/>
                </a:solidFill>
                <a:latin typeface="PingFang TC"/>
                <a:ea typeface="PingFang TC"/>
                <a:cs typeface="PingFang TC"/>
              </a:rPr>
              <a:t>Current surface: 39 component directories, 39 component stories, 56 specs, and 59 inventory rows.</a:t>
            </a:r>
          </a:p>
        </p:txBody>
      </p:sp>
    </p:spTree>
    <p:extLst>
      <p:ext uri="{BB962C8B-B14F-4D97-AF65-F5344CB8AC3E}">
        <p14:creationId xmlns:p14="http://schemas.microsoft.com/office/powerpoint/2010/main" val="188552178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36C350-E61B-4DCA-A1AA-8E91862D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5C043-A63C-43EC-8AB1-10F533EA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8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C3518A14-7476-4F5D-8E40-ED128ACA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800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FF7800"/>
                </a:solidFill>
                <a:latin typeface="PingFang TC"/>
                <a:ea typeface="PingFang TC"/>
                <a:cs typeface="PingFang TC"/>
              </a:rPr>
              <a:t>STORYBOOK SURFACE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DE2984-44E8-4CCE-B48E-5C93AF71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Storybook 把規格轉成可檢查的 UI，並同時支援 Figma export workflow。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688C6-EA8B-4F47-8630-49E8C42A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769FA6-7D52-4392-9D1C-07CB8A3A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5757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757575"/>
                </a:solidFill>
                <a:latin typeface="PingFang TC"/>
                <a:ea typeface="PingFang TC"/>
                <a:cs typeface="PingFang TC"/>
              </a:rPr>
              <a:t>Source: STORYBOOK_ARCHITECTURE, package.json, storybook build 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4BC55A-5E30-4735-89BD-0F3132AF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103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BAF1AA-39A0-4D6C-8F2F-2971B613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2476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49C212-76A9-4432-9B9D-75589D78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E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AC5F0-1A24-4347-B398-60509F9D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Foundations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BF0BE5-8C37-4D5D-8143-0AEB9338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2133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Color, Typography, Spacing, Size, Shape, Shadow, Stroke, Opacity, Token Catalog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E366D9-C633-49AF-A194-B4A25006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66950"/>
            <a:ext cx="2476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574D14-C12A-455B-A432-957B8803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6695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A9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884AD7-1806-4AA9-B8D4-54D9B57B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3840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Governance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91F528-D1AC-44F6-B80C-F2D4E1F4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62250"/>
            <a:ext cx="2133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StorybookArchitecture story plus design-system workflow rules and token contract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6FC6BE-E74B-4705-B12B-E948674D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2476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440999-2DA1-49DC-A1D8-B6216760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8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287452-9DB3-4A7B-8BA4-E4559AF7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3840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Components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2F746D-B5F4-4FC5-86EC-8AC612FA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62250"/>
            <a:ext cx="2133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39 stories mirror React components and expose observed/evidenced states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D271E6-872D-4369-9F1E-DADE8DBB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66950"/>
            <a:ext cx="16192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FFBD7C-6A2F-4582-9B2D-DEE00144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6695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B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DF81F2-2DF6-4D3D-BA95-6A419C5A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38400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Export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E4A91A-9DAD-4314-82A5-85CC61CD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62250"/>
            <a:ext cx="1276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Figma export addon toggle with component class prefixes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C92324-6180-4A79-8F4F-EC42EEBF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10050"/>
            <a:ext cx="9391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8FA3E3-FCE9-4C1B-8750-0521431B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889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Build status: storybook build completed successfully; Vite only emitted a non-blocking chunk size warning.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1FC7CB-B878-4085-8C7C-A74D4072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4825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8E4D7E-A6B6-4A09-A7BD-11F048E7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482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A9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2F96FE-7F00-4CD7-A733-2C7CCE74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1816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React 19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768939-5D65-4356-910E-D149038C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52450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A9EA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36A9EA"/>
                </a:solidFill>
                <a:latin typeface="PingFang TC"/>
                <a:ea typeface="PingFang TC"/>
                <a:cs typeface="PingFang TC"/>
              </a:rPr>
              <a:t>component runtime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7838FE-4502-4748-8A09-0C1C346B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75310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typescript + vite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46D972-D416-4B4E-A416-5423A0CA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04825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D303EA-858A-435B-950B-15BBEAEF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0482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8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E265D0-E790-42F7-AAAE-5BF617D6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1816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Storybook 10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398D02-F1EF-45B5-AF43-E9438B09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52450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800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F7800"/>
                </a:solidFill>
                <a:latin typeface="PingFang TC"/>
                <a:ea typeface="PingFang TC"/>
                <a:cs typeface="PingFang TC"/>
              </a:rPr>
              <a:t>verification layer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1A051E-3AFE-4B70-9D59-2107FCDA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75310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docs + stories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55FC8C-55AA-4E4E-847F-3E10A849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4825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E32067-BAB0-4233-BF29-F2D4F7AD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482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B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4DECC7-AB32-432F-AF38-C34B1091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816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Figma export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9ED02D-985C-4762-902C-4B2FD3C1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2450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B54A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39B54A"/>
                </a:solidFill>
                <a:latin typeface="PingFang TC"/>
                <a:ea typeface="PingFang TC"/>
                <a:cs typeface="PingFang TC"/>
              </a:rPr>
              <a:t>handoff addon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0509E1-7D49-4C08-B1F1-487207B1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5310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shared package path</a:t>
            </a:r>
          </a:p>
        </p:txBody>
      </p:sp>
    </p:spTree>
    <p:extLst>
      <p:ext uri="{BB962C8B-B14F-4D97-AF65-F5344CB8AC3E}">
        <p14:creationId xmlns:p14="http://schemas.microsoft.com/office/powerpoint/2010/main" val="81414957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B4B2BA-FA62-463B-8523-70DB9D39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0F37B9-5F3F-48CA-920C-34A5BECB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8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D50A78E5-FA84-4248-85DA-39341565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800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FF7800"/>
                </a:solidFill>
                <a:latin typeface="PingFang TC"/>
                <a:ea typeface="PingFang TC"/>
                <a:cs typeface="PingFang TC"/>
              </a:rPr>
              <a:t>LATEST EXTRACTION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F42EA4-D293-420A-B205-D4DB636C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Selection Control 的價值在於釐清邊界：控制本身獨立，row/sheet 只負責 compose。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0C611-0A32-450B-920E-2B1E8CC2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B2C2E-BE0B-4AA0-B70D-8EB87224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5757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757575"/>
                </a:solidFill>
                <a:latin typeface="PingFang TC"/>
                <a:ea typeface="PingFang TC"/>
                <a:cs typeface="PingFang TC"/>
              </a:rPr>
              <a:t>Source: SESSION_STATE, COMPONENT_INVENTORY, SelectionControl code/story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10B3F0-DBA4-426F-8591-C2D088A2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103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284077-0236-4885-BD81-20AF4231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33600"/>
            <a:ext cx="27622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19050">
            <a:solidFill>
              <a:srgbClr val="FF78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63270-F39A-4B05-8E3E-B1FADBC1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6220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7800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FF7800"/>
                </a:solidFill>
                <a:latin typeface="PingFang TC"/>
                <a:ea typeface="PingFang TC"/>
                <a:cs typeface="PingFang TC"/>
              </a:rPr>
              <a:t>Selection 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BCE7D7-8718-4AD4-84AA-7B7A8C4B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289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9050">
            <a:solidFill>
              <a:srgbClr val="99999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0B8A4E-26DD-4506-94F3-28F43078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289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800"/>
          </a:solidFill>
          <a:ln xmlns:a="http://schemas.openxmlformats.org/drawingml/2006/main" w="19050">
            <a:solidFill>
              <a:srgbClr val="FF78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3C00BB-FBA7-4A88-B7AB-C45778EF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019425"/>
            <a:ext cx="209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FDAA4A-DB2C-482C-B868-5811A351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76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9050">
            <a:solidFill>
              <a:srgbClr val="99999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154EB3-9732-44F1-BB5F-1FFD160A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76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9050">
            <a:solidFill>
              <a:srgbClr val="FF78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70036C-F628-46CA-8024-48840037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752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800"/>
          </a:solidFill>
          <a:ln xmlns:a="http://schemas.openxmlformats.org/drawingml/2006/main" w="0">
            <a:solidFill>
              <a:srgbClr val="FF78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EAC7CA-374A-41A7-A600-45CFBA67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BD4140-3EC4-4247-80D5-6A67C494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DEDED"/>
                </a:solidFill>
                <a:latin typeface="PingFang TC"/>
                <a:ea typeface="PingFang TC"/>
                <a:cs typeface="PingFang TC"/>
              </a:defRPr>
            </a:pPr>
            <a:r>
              <a:rPr sz="825" b="1">
                <a:solidFill>
                  <a:srgbClr val="EDEDED"/>
                </a:solidFill>
                <a:latin typeface="PingFang TC"/>
                <a:ea typeface="PingFang TC"/>
                <a:cs typeface="PingFang TC"/>
              </a:rPr>
              <a:t>20px checkbox/radio visual control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3922D1-6CA5-40FD-96DF-10549CB0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24100"/>
            <a:ext cx="2095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2B866C-8889-41AF-901F-218AB5CD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241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A9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F1E066-86FB-4F63-ADA8-79F568B3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95550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Bottom Sheet Cell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3AD300-DE0C-45E1-AA20-F4D0BA68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19400"/>
            <a:ext cx="1752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owns row label, layout, divider, right-side slot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062964-5E4E-4E4F-921F-F562966F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24100"/>
            <a:ext cx="2095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6A4A6A-A740-4905-9DB2-342AAC2A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241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B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069EBD-E123-4F6E-8C25-555F42CD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95550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Bottom Sheet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6A0070-D0A0-4739-80BA-9E7B5F3C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19400"/>
            <a:ext cx="1752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owns sheet structure and grouped selection flow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D8522E-7C86-477A-A2FB-172FEF21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48150"/>
            <a:ext cx="2095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1F2519-A856-4A24-AEC1-E8188545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4815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E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C427BE-0D42-45F9-AA04-86D32685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19600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Event Filter Option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4D3F4C-C9FC-4EE0-BA75-54A2C257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743450"/>
            <a:ext cx="1752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remains a filled text option, not a checkbox/radio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52CC33-56F5-493C-8E2A-E7185AA2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43250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5503E9-1B7C-4208-942E-4518B019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71800"/>
            <a:ext cx="190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DCC263-22F9-4ADC-9D18-B5E1F057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718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156212-7A9C-417F-B1B9-51E5CE5E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9550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57A1E3-2441-41C0-8988-BD658083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95500"/>
            <a:ext cx="190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46C2AF-1CCF-449D-B939-5BCA80EF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19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E21310-61FF-402C-AAAF-EBD0E790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95850"/>
            <a:ext cx="1657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D60874-18BB-4F18-A862-0903BCF7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338" y="3081338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800"/>
          </a:solidFill>
          <a:ln xmlns:a="http://schemas.openxmlformats.org/drawingml/2006/main" w="0">
            <a:solidFill>
              <a:srgbClr val="FF78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4CA48E-2626-4A35-8AE3-E7CCCD1C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138" y="31003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800"/>
          </a:solidFill>
          <a:ln xmlns:a="http://schemas.openxmlformats.org/drawingml/2006/main" w="0">
            <a:solidFill>
              <a:srgbClr val="FF78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FDECA0-9055-48A6-98CA-1A0BB6D5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859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Developer decision: keep distinct. Hosts compose the standalone visual control; they do not redraw selection artwork.</a:t>
            </a:r>
          </a:p>
        </p:txBody>
      </p:sp>
    </p:spTree>
    <p:extLst>
      <p:ext uri="{BB962C8B-B14F-4D97-AF65-F5344CB8AC3E}">
        <p14:creationId xmlns:p14="http://schemas.microsoft.com/office/powerpoint/2010/main" val="188188579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5AF99E-31EC-424E-A1BD-B1E3F8A0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265BAF-520C-4EBE-A5EC-9B81DD51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8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511BB3C2-5B29-47E4-8D2D-0D9E61CC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800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FF7800"/>
                </a:solidFill>
                <a:latin typeface="PingFang TC"/>
                <a:ea typeface="PingFang TC"/>
                <a:cs typeface="PingFang TC"/>
              </a:rPr>
              <a:t>CURRENT HEALTH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54E9C-9C0F-4C98-96A7-EC46BAD8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本地狀態健康，但嚴格設計系統 audit 還沒有完成。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E60F6-4A74-41F3-B755-E0E2252C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979D4B-C7D1-4AE1-9E3E-F4500AB9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5757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757575"/>
                </a:solidFill>
                <a:latin typeface="PingFang TC"/>
                <a:ea typeface="PingFang TC"/>
                <a:cs typeface="PingFang TC"/>
              </a:rPr>
              <a:t>Source: local command results, SESSION_STATE, NEAR_TOKEN_REVIEW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A538E-C784-44D0-932F-32C7AB44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103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5ED733-4A99-43AC-9799-B1693A50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103632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FD711D-C1F0-4CEB-82C1-40A74D8A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33600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9B5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43F440-9F20-4771-A912-00E2EB7E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717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9B54A"/>
                </a:solidFill>
                <a:latin typeface="PingFang TC"/>
                <a:ea typeface="PingFang TC"/>
                <a:cs typeface="PingFang TC"/>
              </a:defRPr>
            </a:pPr>
            <a:r>
              <a:rPr sz="825" b="1">
                <a:solidFill>
                  <a:srgbClr val="39B54A"/>
                </a:solidFill>
                <a:latin typeface="PingFang TC"/>
                <a:ea typeface="PingFang TC"/>
                <a:cs typeface="PingFang TC"/>
              </a:rPr>
              <a:t>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41778-6D79-4733-875A-79BD3C84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1526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Working tree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9B814F-7D40-49FE-B7F5-7C1059CC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5265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feature/figma-code-generate clean and synced with origin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76656B-B139-4EFA-93FB-197710DE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FD3533-E55D-4D56-97F2-2086D587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9B5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1994F5-F8D0-4474-8359-BA714FA7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479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9B54A"/>
                </a:solidFill>
                <a:latin typeface="PingFang TC"/>
                <a:ea typeface="PingFang TC"/>
                <a:cs typeface="PingFang TC"/>
              </a:defRPr>
            </a:pPr>
            <a:r>
              <a:rPr sz="825" b="1">
                <a:solidFill>
                  <a:srgbClr val="39B54A"/>
                </a:solidFill>
                <a:latin typeface="PingFang TC"/>
                <a:ea typeface="PingFang TC"/>
                <a:cs typeface="PingFang TC"/>
              </a:rPr>
              <a:t>PASS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EE346C-66C7-42EF-8BC4-B39A3BD9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6289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npm run check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885F5B-8B50-49EE-A5B3-0D556E37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289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token inheritance check passed; TypeScript typecheck passed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D19AA5-341C-41AF-AC0D-4B95745C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171B6C-B8BE-4720-9C85-18EF5E48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86100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9B5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333AB7-509C-48E6-85CA-B04E253A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24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9B54A"/>
                </a:solidFill>
                <a:latin typeface="PingFang TC"/>
                <a:ea typeface="PingFang TC"/>
                <a:cs typeface="PingFang TC"/>
              </a:defRPr>
            </a:pPr>
            <a:r>
              <a:rPr sz="825" b="1">
                <a:solidFill>
                  <a:srgbClr val="39B54A"/>
                </a:solidFill>
                <a:latin typeface="PingFang TC"/>
                <a:ea typeface="PingFang TC"/>
                <a:cs typeface="PingFang TC"/>
              </a:rPr>
              <a:t>PASS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77C762-6644-4C24-ABD5-3313B424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1051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Storybook build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40C0C0-2060-481F-A136-89F0E312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0515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storybook build completed successfully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013678-F41B-4ACF-8AB3-81610BE8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5EBB85-D0BE-4F1E-BB62-DE29AD70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62350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EEB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F4BDF6-9E04-4AC5-9381-22FBB0FF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004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EEB1"/>
                </a:solidFill>
                <a:latin typeface="PingFang TC"/>
                <a:ea typeface="PingFang TC"/>
                <a:cs typeface="PingFang TC"/>
              </a:defRPr>
            </a:pPr>
            <a:r>
              <a:rPr sz="825" b="1">
                <a:solidFill>
                  <a:srgbClr val="FFEEB1"/>
                </a:solidFill>
                <a:latin typeface="PingFang TC"/>
                <a:ea typeface="PingFang TC"/>
                <a:cs typeface="PingFang TC"/>
              </a:rPr>
              <a:t>WARN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7E6BE3-5C15-4EFC-BBB7-6C54DC71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5814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Build warning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6AE536-BC24-42C5-BD58-C5CB2215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814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Vite chunk size warning after minification; non-blocking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E562F4-9694-4FA1-8429-18AD4B37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A530B0-C82A-4B79-A03B-76466814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38600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78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EFCA81-F08C-43A8-8C86-F5E107F2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767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7800"/>
                </a:solidFill>
                <a:latin typeface="PingFang TC"/>
                <a:ea typeface="PingFang TC"/>
                <a:cs typeface="PingFang TC"/>
              </a:defRPr>
            </a:pPr>
            <a:r>
              <a:rPr sz="825" b="1">
                <a:solidFill>
                  <a:srgbClr val="FF7800"/>
                </a:solidFill>
                <a:latin typeface="PingFang TC"/>
                <a:ea typeface="PingFang TC"/>
                <a:cs typeface="PingFang TC"/>
              </a:rPr>
              <a:t>OPEN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8B52A1-70F5-4125-89EB-276A7B6C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0576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Strict token audit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3B459C-D2E3-4569-98F1-287306BA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5765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286 near-token candidates need developer decisions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A0B6AE-115B-41B4-B665-7F7B061C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AA2445-A2E1-4D46-AF83-B2A89243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14850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78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6156E2-50F0-416D-B908-B315EEAA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529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7800"/>
                </a:solidFill>
                <a:latin typeface="PingFang TC"/>
                <a:ea typeface="PingFang TC"/>
                <a:cs typeface="PingFang TC"/>
              </a:defRPr>
            </a:pPr>
            <a:r>
              <a:rPr sz="825" b="1">
                <a:solidFill>
                  <a:srgbClr val="FF7800"/>
                </a:solidFill>
                <a:latin typeface="PingFang TC"/>
                <a:ea typeface="PingFang TC"/>
                <a:cs typeface="PingFang TC"/>
              </a:rPr>
              <a:t>OPEN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96D32D-C50D-496F-984A-5C7D2681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339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Component metadata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E6EB26-8335-482C-9578-B6CE072E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339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54 older specs missing Component Fingerprint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FA0A23-D753-4843-BCE5-81C5263B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E423F7-437C-4DD1-9ACC-3078F3BA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91100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EA272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D0382D-B4AE-4D20-90B9-447A7A7C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29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A272D"/>
                </a:solidFill>
                <a:latin typeface="PingFang TC"/>
                <a:ea typeface="PingFang TC"/>
                <a:cs typeface="PingFang TC"/>
              </a:defRPr>
            </a:pPr>
            <a:r>
              <a:rPr sz="825" b="1">
                <a:solidFill>
                  <a:srgbClr val="EA272D"/>
                </a:solidFill>
                <a:latin typeface="PingFang TC"/>
                <a:ea typeface="PingFang TC"/>
                <a:cs typeface="PingFang TC"/>
              </a:rPr>
              <a:t>OPEN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0C590A-F490-4B9D-A156-8CB3BEC5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0101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Evidence gaps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6671604-6650-4137-A26D-163762E4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1015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interaction, responsive, overflow, and disabled states remain unevidenced in many components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1BD0B5-B17C-4444-A5FD-E6B5736D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483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42D2A4-CA95-415E-89DF-C2EE6FEE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626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DEDED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EDEDED"/>
                </a:solidFill>
                <a:latin typeface="PingFang TC"/>
                <a:ea typeface="PingFang TC"/>
                <a:cs typeface="PingFang TC"/>
              </a:rPr>
              <a:t>Interpretation: engineering checks are green; governance audit still needs an explicit token-decision pass.</a:t>
            </a:r>
          </a:p>
        </p:txBody>
      </p:sp>
    </p:spTree>
    <p:extLst>
      <p:ext uri="{BB962C8B-B14F-4D97-AF65-F5344CB8AC3E}">
        <p14:creationId xmlns:p14="http://schemas.microsoft.com/office/powerpoint/2010/main" val="56489260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B045D9-AD9B-42EC-837E-BDD88629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9F241E-9FF4-4E9B-AFCA-350E1981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8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E29F5569-54A2-4C38-AD2F-00C64288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800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FF7800"/>
                </a:solidFill>
                <a:latin typeface="PingFang TC"/>
                <a:ea typeface="PingFang TC"/>
                <a:cs typeface="PingFang TC"/>
              </a:rPr>
              <a:t>NEXT 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2B9E7B-6782-4B31-91D9-97E946EE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下一步應先處理決策債，再擴張更多元件面積。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63C091-B28A-43DA-9265-9E08E41A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E5F478-83E2-4DF7-B4EE-26EB0663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5757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757575"/>
                </a:solidFill>
                <a:latin typeface="PingFang TC"/>
                <a:ea typeface="PingFang TC"/>
                <a:cs typeface="PingFang TC"/>
              </a:rPr>
              <a:t>Source: SESSION_STATE recommended next prompt, NEAR_TOKEN_REVIEW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13BF9B-4059-406E-8DB6-A7CF03E3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103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CC04C8-0FC3-4503-B2A0-5067CF0C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57400"/>
            <a:ext cx="990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19050">
            <a:solidFill>
              <a:srgbClr val="FF78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EB5CF9-E80C-4AE1-BAB6-1DC4AD40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098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800"/>
          </a:solidFill>
          <a:ln xmlns:a="http://schemas.openxmlformats.org/drawingml/2006/main" w="0">
            <a:solidFill>
              <a:srgbClr val="FF78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AE73F6-C33A-489C-BAB8-0925B626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76475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D3485A-280D-406C-B5D5-1EBBB070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1907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Resolve near-token queue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2C72E-A16A-4F6D-909F-CF446EED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46697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處理 286 candidates；優先 neutral outline、yellow/amber close colors、micro spacing、radii。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4EB397-D7A6-4641-ACE6-D1AC257A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8600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7800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FF7800"/>
                </a:solidFill>
                <a:latin typeface="PingFang TC"/>
                <a:ea typeface="PingFang TC"/>
                <a:cs typeface="PingFang TC"/>
              </a:rPr>
              <a:t>highest audit leverage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DB9EE2-4235-4E90-907C-72DCC1B7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09900"/>
            <a:ext cx="990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36A9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F08D2D-5DC2-4136-873E-89A3D997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623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A9EA"/>
          </a:solidFill>
          <a:ln xmlns:a="http://schemas.openxmlformats.org/drawingml/2006/main" w="0">
            <a:solidFill>
              <a:srgbClr val="36A9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B0D876-BE0C-4B5A-8F56-227455C4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28975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329654-348C-4EBF-A811-DCAEE233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1432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Review Selection Control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073078-64F2-480E-AE6E-F3DCCBB2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41947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確認 20px checkbox/radio、disabled/focus/indeterminate story 是否符合產品實作需求。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E971FA-CEA8-4422-BAEC-EACA34CC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3850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6A9EA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36A9EA"/>
                </a:solidFill>
                <a:latin typeface="PingFang TC"/>
                <a:ea typeface="PingFang TC"/>
                <a:cs typeface="PingFang TC"/>
              </a:rPr>
              <a:t>latest scope stabilization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C34225-CCD9-454E-B9A5-568261C4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62400"/>
            <a:ext cx="990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39B5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6A7858-CFD1-49C5-A676-E19A0914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148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B54A"/>
          </a:solidFill>
          <a:ln xmlns:a="http://schemas.openxmlformats.org/drawingml/2006/main" w="0">
            <a:solidFill>
              <a:srgbClr val="39B5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95F9BB-9417-4B92-9F97-9B2BF937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81475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9242FB-C42F-448B-B1B2-8949F290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957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Figma Variables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1AA20D-71E9-4FFE-8FB4-1C201F8B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37197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把 ref/sys/comp decisions 推回 Figma，降低設計與程式 token drift。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24B186-036B-4444-9017-6B688996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9100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9B54A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39B54A"/>
                </a:solidFill>
                <a:latin typeface="PingFang TC"/>
                <a:ea typeface="PingFang TC"/>
                <a:cs typeface="PingFang TC"/>
              </a:rPr>
              <a:t>cross-tool alignment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2D60D2-801D-4C4A-8594-F801018C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14900"/>
            <a:ext cx="990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9525">
            <a:solidFill>
              <a:srgbClr val="FFEEB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27009E-899B-4298-872D-E660EE5C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673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EB1"/>
          </a:solidFill>
          <a:ln xmlns:a="http://schemas.openxmlformats.org/drawingml/2006/main" w="0">
            <a:solidFill>
              <a:srgbClr val="FFEEB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9BAA5A-D2FC-4814-802E-C3B88261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33975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71C351-B242-481B-9DAB-636D3633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0482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Cross-agent instructions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61E074-B7FC-4588-BEC4-0356523C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32447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整理 Claude/Cursor/Codex handoff rules，避免後續實作繞過 token governance。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188BE8-6A0C-4574-AF63-305173ED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4350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EEB1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FFEEB1"/>
                </a:solidFill>
                <a:latin typeface="PingFang TC"/>
                <a:ea typeface="PingFang TC"/>
                <a:cs typeface="PingFang TC"/>
              </a:rPr>
              <a:t>scales contributors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50CEAA-B5FC-439C-9CDB-AFDC152E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000750"/>
            <a:ext cx="914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Recommendation: start with near-token decisions because they unblock strict audit and prevent future component churn.</a:t>
            </a:r>
          </a:p>
        </p:txBody>
      </p:sp>
    </p:spTree>
    <p:extLst>
      <p:ext uri="{BB962C8B-B14F-4D97-AF65-F5344CB8AC3E}">
        <p14:creationId xmlns:p14="http://schemas.microsoft.com/office/powerpoint/2010/main" val="187191589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195861-7EBE-4986-BD91-858465ED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F26E6-721B-4395-B128-14185813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8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29B8BF4A-A2EB-4866-8BDF-D2F92719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800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FF7800"/>
                </a:solidFill>
                <a:latin typeface="PingFang TC"/>
                <a:ea typeface="PingFang TC"/>
                <a:cs typeface="PingFang TC"/>
              </a:rPr>
              <a:t>HANDOFF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FD847-2B48-4E16-82CF-A7FF48D7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真正可重複的資產，是這條 evidence-to-delivery loop。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3CC6FE-13AA-4E04-BB40-3E94D23E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F560F2-FAE2-4B6E-8BF6-095008A2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5757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757575"/>
                </a:solidFill>
                <a:latin typeface="PingFang TC"/>
                <a:ea typeface="PingFang TC"/>
                <a:cs typeface="PingFang TC"/>
              </a:rPr>
              <a:t>Source: design-system docs and observed implementation pattern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E06428-F46A-47A3-846B-C336361D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103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44EB0A-3288-481E-B46B-07B4B2AB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14600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0E4A26-54C2-4663-AC93-5E0E79AE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14650"/>
            <a:ext cx="9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59322-2CD0-48CB-94D0-E8BEB2AF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1465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D1CB9B-7B64-45AD-8109-B6D086BF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38700"/>
            <a:ext cx="9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FA0DD3-0B57-48EB-9288-9362D24E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210050"/>
            <a:ext cx="19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3EB7F7-05FE-4EAB-9DF5-C94195DC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387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8168ED-5326-4B5C-ADCD-D68045FD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210050"/>
            <a:ext cx="19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FF8584-2125-4711-81AE-02C3B881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146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981A02-CE26-47D6-B25E-B7F91AE3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1465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32165C-589E-41DF-AA94-BC7732D5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38450"/>
            <a:ext cx="26289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54697D-A994-4009-B52C-D08D91AE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2194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Session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5110B4-62EF-4B30-B3D1-86F552B1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600450"/>
            <a:ext cx="2019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the handoff ledger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3A1C59-4047-4129-B10D-4DC406E7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752600"/>
            <a:ext cx="1638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19050">
            <a:solidFill>
              <a:srgbClr val="FFEEB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130642-4B2C-402E-A70B-79E8A6B1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92405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EEB1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EEB1"/>
                </a:solidFill>
                <a:latin typeface="PingFang TC"/>
                <a:ea typeface="PingFang TC"/>
                <a:cs typeface="PingFang TC"/>
              </a:rPr>
              <a:t>Extract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4D92C4-2EA5-4BFC-9110-7886A892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098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Figma node + variables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132549-E273-47B7-AFA5-7610EB13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EB1"/>
          </a:solidFill>
          <a:ln xmlns:a="http://schemas.openxmlformats.org/drawingml/2006/main" w="0">
            <a:solidFill>
              <a:srgbClr val="FFEEB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971894-BD20-4F7C-9B7E-2B15EA86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33650"/>
            <a:ext cx="1638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19050">
            <a:solidFill>
              <a:srgbClr val="FF78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4ABB3A-CE0B-4E62-B13A-1CC7D74E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0510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7800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7800"/>
                </a:solidFill>
                <a:latin typeface="PingFang TC"/>
                <a:ea typeface="PingFang TC"/>
                <a:cs typeface="PingFang TC"/>
              </a:rPr>
              <a:t>Decide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D12144-13A9-472F-99BA-804B607B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908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similarity + token 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D7A35F-9FCB-49BC-84BB-23465026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76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800"/>
          </a:solidFill>
          <a:ln xmlns:a="http://schemas.openxmlformats.org/drawingml/2006/main" w="0">
            <a:solidFill>
              <a:srgbClr val="FF78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3B1B26-11D6-4230-B4D0-EB609489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838700"/>
            <a:ext cx="1638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19050">
            <a:solidFill>
              <a:srgbClr val="36A9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FFD3DF-CA22-464B-B4A7-08B31D30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01015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6A9EA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36A9EA"/>
                </a:solidFill>
                <a:latin typeface="PingFang TC"/>
                <a:ea typeface="PingFang TC"/>
                <a:cs typeface="PingFang TC"/>
              </a:rPr>
              <a:t>Tokenize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14DDD0-E4EB-4CBB-946C-B0ABD178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959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ref -&gt; sys -&gt; comp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37FFB1-F3E3-42D5-8F2D-8ABF1A59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181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A9EA"/>
          </a:solidFill>
          <a:ln xmlns:a="http://schemas.openxmlformats.org/drawingml/2006/main" w="0">
            <a:solidFill>
              <a:srgbClr val="36A9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24B05B-7560-4175-97E1-107F1EAF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838700"/>
            <a:ext cx="1638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19050">
            <a:solidFill>
              <a:srgbClr val="39B5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5FAA61-B2CD-490D-9DD2-777FFE0D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01015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9B54A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39B54A"/>
                </a:solidFill>
                <a:latin typeface="PingFang TC"/>
                <a:ea typeface="PingFang TC"/>
                <a:cs typeface="PingFang TC"/>
              </a:rPr>
              <a:t>Implement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BA71C1-D25D-4565-8658-AC69F35B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959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React + CSS slots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5DDF1F-49C7-4224-A3D9-C2FC6A9C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181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B54A"/>
          </a:solidFill>
          <a:ln xmlns:a="http://schemas.openxmlformats.org/drawingml/2006/main" w="0">
            <a:solidFill>
              <a:srgbClr val="39B5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F0ED79-85A4-4A60-8E59-3DFDC214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33650"/>
            <a:ext cx="1638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19050">
            <a:solidFill>
              <a:srgbClr val="EA272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4DA6B0-32AE-4401-8B15-32E58162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70510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A272D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A272D"/>
                </a:solidFill>
                <a:latin typeface="PingFang TC"/>
                <a:ea typeface="PingFang TC"/>
                <a:cs typeface="PingFang TC"/>
              </a:rPr>
              <a:t>Verify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E4B4BB-1A61-4CF6-967B-F5DF2FD5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908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defRPr>
            </a:pPr>
            <a:r>
              <a:rPr sz="825" b="0">
                <a:solidFill>
                  <a:srgbClr val="999999"/>
                </a:solidFill>
                <a:latin typeface="PingFang TC"/>
                <a:ea typeface="PingFang TC"/>
                <a:cs typeface="PingFang TC"/>
              </a:rPr>
              <a:t>Storybook + checks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2656AD-A1C3-4EC1-BBFE-7AA9492E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76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272D"/>
          </a:solidFill>
          <a:ln xmlns:a="http://schemas.openxmlformats.org/drawingml/2006/main" w="0">
            <a:solidFill>
              <a:srgbClr val="EA272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16D726-7450-4F99-BE0B-466E3280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57850"/>
            <a:ext cx="10134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9525">
            <a:solidFill>
              <a:srgbClr val="FF780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A82BCA-C1AD-4670-BB52-89628839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53100"/>
            <a:ext cx="9601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Next contributor rule: read SESSION_STATE first, preserve token inheritance, then record the design decision before code changes.</a:t>
            </a:r>
          </a:p>
        </p:txBody>
      </p:sp>
    </p:spTree>
    <p:extLst>
      <p:ext uri="{BB962C8B-B14F-4D97-AF65-F5344CB8AC3E}">
        <p14:creationId xmlns:p14="http://schemas.microsoft.com/office/powerpoint/2010/main" val="1546548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2026-06-02T06:24:03.2710000Z</dcterms:created>
  <dcterms:modified xsi:type="dcterms:W3CDTF">2026-06-02T06:24:03.2720000Z</dcterms:modified>
</coreProperties>
</file>